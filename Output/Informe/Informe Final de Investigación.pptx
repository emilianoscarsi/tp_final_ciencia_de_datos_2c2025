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8" r:id="rId6"/>
    <p:sldId id="266" r:id="rId7"/>
    <p:sldId id="267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7B4B4B-DA85-911E-3A48-6AB0B5065898}" name="SCARSI EMILIANO" initials="ES" userId="S::31SC40009216@campus.economicas.uba.ar::882924b4-4b93-454f-9aef-e910533fb7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84" name="Google Shape;84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73a0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0" name="Google Shape;90;gc6f73a0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01" name="Google Shape;101;gc6f73a04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95A5804-9C34-BCEA-EA33-25A73406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73a04f_0_5:notes">
            <a:extLst>
              <a:ext uri="{FF2B5EF4-FFF2-40B4-BE49-F238E27FC236}">
                <a16:creationId xmlns:a16="http://schemas.microsoft.com/office/drawing/2014/main" id="{F4AE305E-3C27-00B0-60B9-80425FA56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0" name="Google Shape;90;gc6f73a04f_0_5:notes">
            <a:extLst>
              <a:ext uri="{FF2B5EF4-FFF2-40B4-BE49-F238E27FC236}">
                <a16:creationId xmlns:a16="http://schemas.microsoft.com/office/drawing/2014/main" id="{7098A5A1-8583-EB5E-02E6-3ABDD6A85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422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ED2DC235-627F-BB04-A5B4-7F8BA4C4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>
            <a:extLst>
              <a:ext uri="{FF2B5EF4-FFF2-40B4-BE49-F238E27FC236}">
                <a16:creationId xmlns:a16="http://schemas.microsoft.com/office/drawing/2014/main" id="{55C77A33-3F00-9439-CC5F-CC81B71DF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01" name="Google Shape;101;gc6f73a04f_0_14:notes">
            <a:extLst>
              <a:ext uri="{FF2B5EF4-FFF2-40B4-BE49-F238E27FC236}">
                <a16:creationId xmlns:a16="http://schemas.microsoft.com/office/drawing/2014/main" id="{2E2145FF-ADFE-BE4B-9202-5C3C0EF9D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829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0DEF995-4B60-9520-FEFD-FF513183C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>
            <a:extLst>
              <a:ext uri="{FF2B5EF4-FFF2-40B4-BE49-F238E27FC236}">
                <a16:creationId xmlns:a16="http://schemas.microsoft.com/office/drawing/2014/main" id="{5FE21968-270C-C73F-DA67-DE7B9B7DE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01" name="Google Shape;101;gc6f73a04f_0_14:notes">
            <a:extLst>
              <a:ext uri="{FF2B5EF4-FFF2-40B4-BE49-F238E27FC236}">
                <a16:creationId xmlns:a16="http://schemas.microsoft.com/office/drawing/2014/main" id="{69FACF8B-297A-E5A6-E850-AC3280EEA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304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E18CAA1-2B5D-8AA0-3D87-C605C4E1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>
            <a:extLst>
              <a:ext uri="{FF2B5EF4-FFF2-40B4-BE49-F238E27FC236}">
                <a16:creationId xmlns:a16="http://schemas.microsoft.com/office/drawing/2014/main" id="{7285C649-E3D7-B6AC-03C8-7AA3693C7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01" name="Google Shape;101;gc6f73a04f_0_14:notes">
            <a:extLst>
              <a:ext uri="{FF2B5EF4-FFF2-40B4-BE49-F238E27FC236}">
                <a16:creationId xmlns:a16="http://schemas.microsoft.com/office/drawing/2014/main" id="{497ECD9C-C1CE-480C-A641-7C90C6BEF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004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5DCDB5B-9011-25F4-3D9F-5F35A675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>
            <a:extLst>
              <a:ext uri="{FF2B5EF4-FFF2-40B4-BE49-F238E27FC236}">
                <a16:creationId xmlns:a16="http://schemas.microsoft.com/office/drawing/2014/main" id="{6AA9D8C0-762E-CCED-7AA3-D0D064703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>
            <a:extLst>
              <a:ext uri="{FF2B5EF4-FFF2-40B4-BE49-F238E27FC236}">
                <a16:creationId xmlns:a16="http://schemas.microsoft.com/office/drawing/2014/main" id="{398F4191-5D20-AC36-B31A-F9F38D09C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63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D940788-6DEA-3935-AEF1-3B6667EE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73a04f_0_5:notes">
            <a:extLst>
              <a:ext uri="{FF2B5EF4-FFF2-40B4-BE49-F238E27FC236}">
                <a16:creationId xmlns:a16="http://schemas.microsoft.com/office/drawing/2014/main" id="{1857C1CB-C14C-DE23-D44F-CEAD4BBA2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0" name="Google Shape;90;gc6f73a04f_0_5:notes">
            <a:extLst>
              <a:ext uri="{FF2B5EF4-FFF2-40B4-BE49-F238E27FC236}">
                <a16:creationId xmlns:a16="http://schemas.microsoft.com/office/drawing/2014/main" id="{B7C7ED38-76D1-3E30-04FF-89AEBB890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539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8639359-55AF-81DD-8649-823E7BD0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>
            <a:extLst>
              <a:ext uri="{FF2B5EF4-FFF2-40B4-BE49-F238E27FC236}">
                <a16:creationId xmlns:a16="http://schemas.microsoft.com/office/drawing/2014/main" id="{C6573FE5-1C7F-09F8-38A8-0F839F19C3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>
            <a:extLst>
              <a:ext uri="{FF2B5EF4-FFF2-40B4-BE49-F238E27FC236}">
                <a16:creationId xmlns:a16="http://schemas.microsoft.com/office/drawing/2014/main" id="{BA0FA4DD-78B1-F974-9E89-8C510F273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035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7A64E3B-1185-3E87-DE28-7E5B3048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>
            <a:extLst>
              <a:ext uri="{FF2B5EF4-FFF2-40B4-BE49-F238E27FC236}">
                <a16:creationId xmlns:a16="http://schemas.microsoft.com/office/drawing/2014/main" id="{48325706-8FA1-938B-451C-6B4BDC6B5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>
            <a:extLst>
              <a:ext uri="{FF2B5EF4-FFF2-40B4-BE49-F238E27FC236}">
                <a16:creationId xmlns:a16="http://schemas.microsoft.com/office/drawing/2014/main" id="{ECD530CA-FF46-E8B0-985E-2494574C9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260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7410C804-3E8B-9934-20E0-88CE9CE7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>
            <a:extLst>
              <a:ext uri="{FF2B5EF4-FFF2-40B4-BE49-F238E27FC236}">
                <a16:creationId xmlns:a16="http://schemas.microsoft.com/office/drawing/2014/main" id="{D5B8539B-258B-A36A-D4DF-E35D39763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01" name="Google Shape;101;gc6f73a04f_0_14:notes">
            <a:extLst>
              <a:ext uri="{FF2B5EF4-FFF2-40B4-BE49-F238E27FC236}">
                <a16:creationId xmlns:a16="http://schemas.microsoft.com/office/drawing/2014/main" id="{BFC6E98B-2CB6-2BF0-CCCB-194D9297F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866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3762ACC-30D7-5C78-5509-60F0B762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>
            <a:extLst>
              <a:ext uri="{FF2B5EF4-FFF2-40B4-BE49-F238E27FC236}">
                <a16:creationId xmlns:a16="http://schemas.microsoft.com/office/drawing/2014/main" id="{E5D8F47F-ABC8-6EEA-67D9-52301CDD3A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01" name="Google Shape;101;gc6f73a04f_0_14:notes">
            <a:extLst>
              <a:ext uri="{FF2B5EF4-FFF2-40B4-BE49-F238E27FC236}">
                <a16:creationId xmlns:a16="http://schemas.microsoft.com/office/drawing/2014/main" id="{DE98F777-6E86-43C0-50C6-B84B48A13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707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10388597-0407-0497-0C64-68428CB5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>
            <a:extLst>
              <a:ext uri="{FF2B5EF4-FFF2-40B4-BE49-F238E27FC236}">
                <a16:creationId xmlns:a16="http://schemas.microsoft.com/office/drawing/2014/main" id="{80CEF1E4-83C8-C1FD-6D6C-CA10693F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01" name="Google Shape;101;gc6f73a04f_0_14:notes">
            <a:extLst>
              <a:ext uri="{FF2B5EF4-FFF2-40B4-BE49-F238E27FC236}">
                <a16:creationId xmlns:a16="http://schemas.microsoft.com/office/drawing/2014/main" id="{024AB290-0A22-D324-BD1B-87C2456767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0939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183A037-D3D4-E979-E462-14CBD3CE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73a04f_0_5:notes">
            <a:extLst>
              <a:ext uri="{FF2B5EF4-FFF2-40B4-BE49-F238E27FC236}">
                <a16:creationId xmlns:a16="http://schemas.microsoft.com/office/drawing/2014/main" id="{1159975F-CC95-62A4-0B1E-C442AF013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0" name="Google Shape;90;gc6f73a04f_0_5:notes">
            <a:extLst>
              <a:ext uri="{FF2B5EF4-FFF2-40B4-BE49-F238E27FC236}">
                <a16:creationId xmlns:a16="http://schemas.microsoft.com/office/drawing/2014/main" id="{699ED05F-B033-836B-3AA0-2BA302232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911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EEF3BC2-6080-6BB5-9D2C-E2468330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>
            <a:extLst>
              <a:ext uri="{FF2B5EF4-FFF2-40B4-BE49-F238E27FC236}">
                <a16:creationId xmlns:a16="http://schemas.microsoft.com/office/drawing/2014/main" id="{5C031BAB-622C-2023-F66B-69CB6B0439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>
            <a:extLst>
              <a:ext uri="{FF2B5EF4-FFF2-40B4-BE49-F238E27FC236}">
                <a16:creationId xmlns:a16="http://schemas.microsoft.com/office/drawing/2014/main" id="{F82301CE-FE62-81BB-454B-BBC11E0B1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351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91B234A-D981-01D2-3ADD-741B4E10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>
            <a:extLst>
              <a:ext uri="{FF2B5EF4-FFF2-40B4-BE49-F238E27FC236}">
                <a16:creationId xmlns:a16="http://schemas.microsoft.com/office/drawing/2014/main" id="{0444E7DD-1D99-6AE1-DF84-203160FEA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>
            <a:extLst>
              <a:ext uri="{FF2B5EF4-FFF2-40B4-BE49-F238E27FC236}">
                <a16:creationId xmlns:a16="http://schemas.microsoft.com/office/drawing/2014/main" id="{850ACA7E-4C23-FA71-84C2-C35A90FA0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0384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B6AD50D-3542-1239-304A-FF636178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>
            <a:extLst>
              <a:ext uri="{FF2B5EF4-FFF2-40B4-BE49-F238E27FC236}">
                <a16:creationId xmlns:a16="http://schemas.microsoft.com/office/drawing/2014/main" id="{F5C515E0-4AC2-53FC-720C-CFDF29A63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>
            <a:extLst>
              <a:ext uri="{FF2B5EF4-FFF2-40B4-BE49-F238E27FC236}">
                <a16:creationId xmlns:a16="http://schemas.microsoft.com/office/drawing/2014/main" id="{9F091262-F563-77FF-4FE4-422348183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129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3090334-7314-6498-43C5-E09158FC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9:notes">
            <a:extLst>
              <a:ext uri="{FF2B5EF4-FFF2-40B4-BE49-F238E27FC236}">
                <a16:creationId xmlns:a16="http://schemas.microsoft.com/office/drawing/2014/main" id="{B54550D1-D2CD-A4B4-A34B-24BC669F2E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95" name="Google Shape;95;gc6f73a04f_0_9:notes">
            <a:extLst>
              <a:ext uri="{FF2B5EF4-FFF2-40B4-BE49-F238E27FC236}">
                <a16:creationId xmlns:a16="http://schemas.microsoft.com/office/drawing/2014/main" id="{B12DA323-D3C3-DC5F-E242-4DD216D79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9646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4FE3475-8874-793C-BDC7-DCF22F24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73a04f_0_0:notes">
            <a:extLst>
              <a:ext uri="{FF2B5EF4-FFF2-40B4-BE49-F238E27FC236}">
                <a16:creationId xmlns:a16="http://schemas.microsoft.com/office/drawing/2014/main" id="{1F78A715-9F50-DB4C-D04C-EF6C368C1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84" name="Google Shape;84;gc6f73a04f_0_0:notes">
            <a:extLst>
              <a:ext uri="{FF2B5EF4-FFF2-40B4-BE49-F238E27FC236}">
                <a16:creationId xmlns:a16="http://schemas.microsoft.com/office/drawing/2014/main" id="{A3BE848D-6F91-1B7A-3A4D-B605BF151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31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6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37368" y="383722"/>
            <a:ext cx="7976507" cy="898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Calidad institucional y desempeño económico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805510" y="2424794"/>
            <a:ext cx="7688100" cy="41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Trabajo Final – Ciencia de Datos para Economía y Negocios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81C91CA3-8942-3190-3E77-F55E09ACE16C}"/>
              </a:ext>
            </a:extLst>
          </p:cNvPr>
          <p:cNvSpPr txBox="1">
            <a:spLocks/>
          </p:cNvSpPr>
          <p:nvPr/>
        </p:nvSpPr>
        <p:spPr>
          <a:xfrm>
            <a:off x="881571" y="1526722"/>
            <a:ext cx="7688100" cy="473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es-MX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rol de la gobernanza y el Estado de Derecho en el PIB per cápita global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3D000B-0597-1822-4A3D-27DFB477FDCF}"/>
              </a:ext>
            </a:extLst>
          </p:cNvPr>
          <p:cNvSpPr txBox="1"/>
          <p:nvPr/>
        </p:nvSpPr>
        <p:spPr>
          <a:xfrm>
            <a:off x="737367" y="3399397"/>
            <a:ext cx="62063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Integrantes Grupo 4-Tema 43: Emiliano </a:t>
            </a:r>
            <a:r>
              <a:rPr lang="es-MX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Scarsi</a:t>
            </a:r>
            <a: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(887755)  Matías Matera (889748)</a:t>
            </a:r>
            <a:b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Profesor: Nicolás Sidicaro</a:t>
            </a:r>
            <a:b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de </a:t>
            </a:r>
            <a: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diciembre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2025</a:t>
            </a:r>
            <a:endParaRPr lang="es-AR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C0EA58-6CBF-CD9C-4044-FEB84E1A48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</a:t>
            </a:fld>
            <a:endParaRPr lang="es-41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Sección 1: Introducción y diseño de investigación</a:t>
            </a:r>
            <a:b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Objetivo, hipótesis y variables clave </a:t>
            </a:r>
            <a:endParaRPr sz="28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459BFB3-FE0A-0C43-A991-6642B34389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2</a:t>
            </a:fld>
            <a:endParaRPr lang="es-41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problema central y la hipótesis de trabajo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585C3B-928C-D161-B51A-2385FED051AF}"/>
              </a:ext>
            </a:extLst>
          </p:cNvPr>
          <p:cNvSpPr txBox="1"/>
          <p:nvPr/>
        </p:nvSpPr>
        <p:spPr>
          <a:xfrm>
            <a:off x="7276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A7481C-E522-7898-76DB-4FF24C64C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412421"/>
            <a:ext cx="7688700" cy="33636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Problema central</a:t>
            </a:r>
            <a:br>
              <a:rPr lang="es-MX" dirty="0"/>
            </a:br>
            <a:endParaRPr lang="es-MX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/>
              <a:t>¿Cómo se relaciona la calidad institucional con el desempeño económico de los países?</a:t>
            </a:r>
            <a:br>
              <a:rPr lang="es-MX" dirty="0"/>
            </a:br>
            <a:br>
              <a:rPr lang="es-MX" dirty="0"/>
            </a:br>
            <a:endParaRPr lang="es-AR" dirty="0"/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Objetivo</a:t>
            </a:r>
            <a:br>
              <a:rPr lang="es-MX" dirty="0"/>
            </a:br>
            <a:endParaRPr lang="es-MX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/>
              <a:t>Medir y cuantificar la asociación estadística entre la calidad institucional y el PIB per cápita (PPP).</a:t>
            </a:r>
            <a:br>
              <a:rPr lang="es-MX" dirty="0"/>
            </a:br>
            <a:br>
              <a:rPr lang="es-MX" dirty="0"/>
            </a:br>
            <a:endParaRPr lang="es-MX" dirty="0"/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Hipótesis (H1)</a:t>
            </a:r>
            <a:br>
              <a:rPr lang="es-MX" dirty="0"/>
            </a:br>
            <a:endParaRPr lang="es-MX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/>
              <a:t>Existe una relación positiva y significativa entre la calidad institucional y el PIB per cápita.</a:t>
            </a:r>
          </a:p>
          <a:p>
            <a:pPr marL="615950" lvl="1" indent="0">
              <a:buNone/>
            </a:pPr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82419-FFA9-0AF6-A95C-071E81011B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3</a:t>
            </a:fld>
            <a:endParaRPr lang="es-41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504" y="624686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 de investigación y variables clave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9504" y="3202380"/>
            <a:ext cx="7279839" cy="1688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Estructura de la base de datos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de corte transversal extendido: años 2000, 2010 y 2020.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Enfoque inferencial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Regresión múltiple para medir efectos marginales y significancia estadística.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E4D5495-9918-BEAA-490A-8947BFE4E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7668"/>
              </p:ext>
            </p:extLst>
          </p:nvPr>
        </p:nvGraphicFramePr>
        <p:xfrm>
          <a:off x="1265464" y="1439453"/>
          <a:ext cx="6637566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665">
                  <a:extLst>
                    <a:ext uri="{9D8B030D-6E8A-4147-A177-3AD203B41FA5}">
                      <a16:colId xmlns:a16="http://schemas.microsoft.com/office/drawing/2014/main" val="1402844517"/>
                    </a:ext>
                  </a:extLst>
                </a:gridCol>
                <a:gridCol w="3347357">
                  <a:extLst>
                    <a:ext uri="{9D8B030D-6E8A-4147-A177-3AD203B41FA5}">
                      <a16:colId xmlns:a16="http://schemas.microsoft.com/office/drawing/2014/main" val="1270785714"/>
                    </a:ext>
                  </a:extLst>
                </a:gridCol>
                <a:gridCol w="1567544">
                  <a:extLst>
                    <a:ext uri="{9D8B030D-6E8A-4147-A177-3AD203B41FA5}">
                      <a16:colId xmlns:a16="http://schemas.microsoft.com/office/drawing/2014/main" val="242945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</a:t>
                      </a:r>
                      <a:endParaRPr lang="es-A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  <a:endParaRPr lang="es-A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A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Origen</a:t>
                      </a:r>
                      <a:endParaRPr lang="es-A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196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Dependiente 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PIB per cápita (PPP, precios constantes)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World Bank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489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Explicativas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Government effectiveness, Regulatory quality, Control of corruption, Rule of law</a:t>
                      </a:r>
                      <a:endParaRPr lang="es-AR" sz="12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u="none" strike="noStrike" cap="none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WGI</a:t>
                      </a:r>
                      <a:endParaRPr lang="es-AR" sz="12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5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 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Inversión Extranjera Directa (FDI inflows)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World Bank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58142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1D190A-36E7-04E6-B03E-6B0488AD4A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4</a:t>
            </a:fld>
            <a:endParaRPr lang="es-41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3F90961-6941-8DEA-5EB8-CCB32668D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0D6CFC95-D96A-253C-AA11-19532A4A2A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7859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Sección 2: Análisis exploratorio y limpieza de datos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7F3FA0F-ED84-0CD9-E948-B97FA9ADD4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5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5204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97AB6747-AE65-EEB1-8CE9-8B9E524C6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BA2B07CA-8E92-19B1-CDA3-DE1BAFC902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04" y="624686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Diagnóstico inicial: datos faltantes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C560ED41-1EBA-B1CF-13B4-F220A93DE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0133" y="1450429"/>
            <a:ext cx="7279839" cy="8307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El análisis exploratorio revela que el principal desafío es la presencia de valores faltantes (NAs).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 asume que los datos faltan al azar (MCAR/MAR débil).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4316475-ED24-F6FE-B187-EF601ED3D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262836"/>
              </p:ext>
            </p:extLst>
          </p:nvPr>
        </p:nvGraphicFramePr>
        <p:xfrm>
          <a:off x="947057" y="2571750"/>
          <a:ext cx="69437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979">
                  <a:extLst>
                    <a:ext uri="{9D8B030D-6E8A-4147-A177-3AD203B41FA5}">
                      <a16:colId xmlns:a16="http://schemas.microsoft.com/office/drawing/2014/main" val="1402844517"/>
                    </a:ext>
                  </a:extLst>
                </a:gridCol>
                <a:gridCol w="2759528">
                  <a:extLst>
                    <a:ext uri="{9D8B030D-6E8A-4147-A177-3AD203B41FA5}">
                      <a16:colId xmlns:a16="http://schemas.microsoft.com/office/drawing/2014/main" val="1270785714"/>
                    </a:ext>
                  </a:extLst>
                </a:gridCol>
                <a:gridCol w="1253217">
                  <a:extLst>
                    <a:ext uri="{9D8B030D-6E8A-4147-A177-3AD203B41FA5}">
                      <a16:colId xmlns:a16="http://schemas.microsoft.com/office/drawing/2014/main" val="242945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  <a:endParaRPr lang="es-A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Descripción</a:t>
                      </a:r>
                      <a:endParaRPr lang="es-A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A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faltante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196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fdi_pct_gdp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Inversión Extranjera Directa (% PIB)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489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gdp_percap_ppp</a:t>
                      </a:r>
                      <a:endParaRPr lang="es-A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PIB per cápita (PPP)</a:t>
                      </a:r>
                      <a:endParaRPr lang="es-AR" sz="12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i="0" u="none" strike="noStrike" cap="none" noProof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5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WGI (gov_effectiveness, rule_of_law, etc.)</a:t>
                      </a:r>
                      <a:endParaRPr lang="es-A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Indicadores institucionales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2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2–6%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58142"/>
                  </a:ext>
                </a:extLst>
              </a:tr>
            </a:tbl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844FD13-A590-DBBE-24C9-842870E77E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5476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B0D450D2-AC21-2E53-3A5B-0AB6DF20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27013B76-9958-F64B-A237-5121CBD1E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800" y="575676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Visualización de datos faltantes por variable</a:t>
            </a:r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B1FF0903-9101-5BE1-229A-60BCFD36C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04" y="4379143"/>
            <a:ext cx="7279839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Las variables con mayor proporción de datos faltantes son fdi_pct_gdp (14.5%) y gdp_percap_ppp (12.3%).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Los indicadores institucionales presentan menos del 6% de NAs, lo que permite mantenerlos sin imputación.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83CB94-0228-7B6E-07C4-8A83C9A9E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386" y="1110876"/>
            <a:ext cx="5909414" cy="3268268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EAE9FC-944C-D083-0D98-5E7FE232D6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88830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78A0C5B6-98ED-6A5B-3FDC-D65981E2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9A739E0F-B288-66FC-E44D-021FE0B93B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504" y="624686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Valores atípicos (outliers)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85C6D20D-0CCF-7212-BBC2-7558B4DCDA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92535" y="1407645"/>
            <a:ext cx="2612751" cy="29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 identificaron outliers en PIB per cápita (ej. Luxemburgo) y en IED (% PIB, ej. Singapur).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No se eliminaron porque reflejan características reales de las economías.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Los indicadores institucionales (WGI) no presentan outliers ni valores faltantes (por construcción), lo que refuerza su confiabilidad.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454E40-2EC6-A03F-E81B-4CC669890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04" y="1223995"/>
            <a:ext cx="4686300" cy="327660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BB1635-7934-CB56-9244-5AB5EF97A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222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A4AF2B4-DA58-3902-D48E-1C5F4117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FBF58F24-028E-E578-F130-2E46B30897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Decisiones metodológicas sobre NAs y outliers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BA02AE-285B-8B20-34D0-A4E669E6B7B9}"/>
              </a:ext>
            </a:extLst>
          </p:cNvPr>
          <p:cNvSpPr txBox="1"/>
          <p:nvPr/>
        </p:nvSpPr>
        <p:spPr>
          <a:xfrm>
            <a:off x="7276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30F57D-B751-B5FA-8CA0-AC921754A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07520"/>
            <a:ext cx="7688700" cy="346858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 1 – Datos faltantes (Nas)</a:t>
            </a:r>
            <a:b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decidió mantener las observaciones con valores faltantes y no imputarlas.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imputación podría distorsionar comparaciones entre países debido a su heterogeneidad estructural.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proporción de NAs en las variables institucionales es baja (≈5%).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asume que los datos faltantes están distribuidos de forma aleatoria (MCAR/MAR), lo que minimiza sesgo.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 2 – Outliers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 eliminaron outliers porque reflejan características reales de las economías.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Removerlos implicaría perder información relevante y distorsionar la variabilidad del fenómeno.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recomienda aplicar transformaciones (log) y modelos robustos en análisis posteriores.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3C04DDE-5360-EFCB-689F-A04365F604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2952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C9868CA1-A6E9-DC71-E61A-C2DF3B83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1A91C914-98B0-237E-7464-1B07F3C8C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7859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Sección 3: Análisis inferencial y modelado</a:t>
            </a:r>
            <a:b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de la regresión múltiple y diagnóstico econométrico</a:t>
            </a:r>
            <a:endParaRPr lang="es-MX" sz="28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6476F5A-3F82-BC55-CCD0-34BFFE3B0B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10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7138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4E242CD-E2B3-6E3C-A353-0B3C2C8A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0535556C-4C82-585E-BEC0-A037F51E7C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globales del modelo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1D625C-6A24-6DEF-1555-8998829181E9}"/>
              </a:ext>
            </a:extLst>
          </p:cNvPr>
          <p:cNvSpPr txBox="1"/>
          <p:nvPr/>
        </p:nvSpPr>
        <p:spPr>
          <a:xfrm>
            <a:off x="7258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540253-2174-1D29-A003-2F7AD6ACD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1413656"/>
            <a:ext cx="7688700" cy="321945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 1 – Significación global (Test F)</a:t>
            </a:r>
            <a:b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Test F resultó altamente significativo: F (4,540) = 180.4 con p &lt; 2e−16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Conclusión: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conjunto de variables institucionales explica de manera contundente la variación en el PIB per cápita.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 2 – 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Bondad de ajuste (R² ajustado)</a:t>
            </a:r>
            <a:b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modelo explica un R² ajustado = 0.572 de la variación en el PIB per cápita.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Conclusión: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R² ajustado significa que el modelo explica el 57.2% de la variación de la variable dependiente, después de corregir por la cantidad de variables incluidas.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nivel de ajuste es extremadamente alto para datos de corte transversal de países.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50DAC2D-7F75-3D1D-086F-99C0E5142A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75312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AEC73D9A-1894-2334-98B5-CB84260B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BF79CBC5-8633-DD6C-968C-952440DADC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Diagnóstico de multicolinealidad y errores robustos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7CC657-9FFE-5281-D39D-451BC0053107}"/>
              </a:ext>
            </a:extLst>
          </p:cNvPr>
          <p:cNvSpPr txBox="1"/>
          <p:nvPr/>
        </p:nvSpPr>
        <p:spPr>
          <a:xfrm>
            <a:off x="7276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EE3771-0A10-6F51-9319-1C3CDBA34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07520"/>
            <a:ext cx="7688700" cy="37597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 1 – Multicolinealidad</a:t>
            </a:r>
            <a:b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calculó el VIF (Variance Inflation Factor) para las variables institucionales.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resultados del test de correlación indican que existe una relación positiva y estadísticamente significativa a cualquier nivel de confianza, entre el PIB per cápita (PPP) y los indicadores institucionales.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Conclusión: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variables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effectiveness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regulatory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control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corruption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rule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law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presentan coeficientes de correlación altos y p-</a:t>
            </a:r>
            <a:r>
              <a:rPr lang="es-E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menores a 0.05. Esto sugiere que los países con instituciones más sólidas tienden a tener mayores niveles de desarrollo económico.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 2 – Outliers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utilizaron errores estándar robustos (White-Huber) para corregir heterocedasticidad.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Esto asegura que los coeficientes y sus tests de significación sean válidos incluso si la varianza no es constante.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Conclusión: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resultados son estadísticamente confiables y resistentes a problemas de especificación.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D09B339-141A-438B-C460-B26B4D39D2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12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83684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B83B5AC-E8FC-080E-99A1-CE942EB0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FAD16A8D-0D08-D9D0-E917-4CE435BDE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800" y="496757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Mayor efectividad del gobierno se asocia con mayor ingreso</a:t>
            </a:r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4673862C-F1C3-906C-C6BD-F47BF9B67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504" y="4379142"/>
            <a:ext cx="7279839" cy="7643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Los países con mayor efectividad gubernamental tienden a presentar mayores niveles de ingreso.</a:t>
            </a:r>
          </a:p>
          <a:p>
            <a:pPr mar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Este resultado es consistente con la hipótesis H1.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F63729-0F83-7383-09C9-F997EBA73E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13</a:t>
            </a:fld>
            <a:endParaRPr lang="es-419"/>
          </a:p>
        </p:txBody>
      </p: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F74AE53F-837E-0327-A43D-7E50422EB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621" y="1031957"/>
            <a:ext cx="5554135" cy="334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0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BEC82D88-4539-74AD-1600-80CD607D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ED971EF3-0503-CBE4-1CEE-CC53E8EBF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800" y="462761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individuales de los coeficientes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7F6911AA-E9C7-0269-9929-FBF070770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9151" y="3600449"/>
            <a:ext cx="7279839" cy="12434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>
              <a:buNone/>
            </a:pPr>
            <a:endParaRPr lang="es-MX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s-MX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*** = altamente significativo (p&lt;0.01) 	** = significativo (p&lt;0.05)	* = marginalmente significativo (p&lt;0.10)</a:t>
            </a:r>
            <a:br>
              <a:rPr lang="es-MX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El bloque institucional explica una fracción sustancial de la variación en el PIB per cápita.</a:t>
            </a:r>
          </a:p>
          <a:p>
            <a:pPr marL="0" lv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efectividad del gobierno y la calidad regulatoria son significativas.</a:t>
            </a:r>
          </a:p>
          <a:p>
            <a:pPr marL="0" lv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modelo explica el 57% de la variación del ingreso entre países, mientras que control de corrupción y rule </a:t>
            </a:r>
            <a:r>
              <a:rPr lang="es-E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law</a:t>
            </a:r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muestran efectos estadísticamente significativos al incluirse todas las variables juntas.</a:t>
            </a:r>
          </a:p>
          <a:p>
            <a:pPr marL="0" lvl="0" indent="0">
              <a:buNone/>
            </a:pP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4DBAE4-8BE4-088F-B9E2-2EEC6E938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14</a:t>
            </a:fld>
            <a:endParaRPr lang="es-419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0E917F0-D364-4E75-C3A4-DDD2382E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043256"/>
              </p:ext>
            </p:extLst>
          </p:nvPr>
        </p:nvGraphicFramePr>
        <p:xfrm>
          <a:off x="819151" y="1339516"/>
          <a:ext cx="5962649" cy="2229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46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Coeficiente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Error Std.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p-valor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Signif.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56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Intercepto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22.180,71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684,04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32,43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Gov.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11.441,88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2.561,48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4,47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6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Regulatory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4.999,54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1.956,91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2,56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0.0109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6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Control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2.808,56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2.136,83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1,31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157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Rule of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66,39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2.393,81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208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D772EFBD-4EFB-17C6-2897-313A7746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5FF1141B-166B-1569-1397-347514F794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800" y="575676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10 PIB per cápita (2000 vs 2020)</a:t>
            </a:r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5DA46390-9885-DF7E-82AC-1CEB146F1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97677" y="1880404"/>
            <a:ext cx="3287325" cy="19744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Los países que se mantienen en el Top 10 presentan instituciones sólidas y estables.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Los que salen del Top suelen mostrar deterioro institucional o estancamiento.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La evidencia comparativa refuerza la importancia de la calidad institucional en el desarrollo económico.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E6A6FC-B8D1-5D8D-EB0F-139590BB9E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15</a:t>
            </a:fld>
            <a:endParaRPr lang="es-419"/>
          </a:p>
        </p:txBody>
      </p: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AAF6520E-09EE-23A8-6B1D-D753996AE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44" y="1366609"/>
            <a:ext cx="5213517" cy="35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55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8546029-1D9E-73FB-FB55-BC30E612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B5F54243-213C-0253-1A3B-237289D5F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7859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Sección 4: Conclusiones y respuesta a la hipótesis</a:t>
            </a:r>
            <a:b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MX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sz="2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Hallazgos, limitaciones e implicancias del estudio</a:t>
            </a:r>
            <a:endParaRPr lang="es-MX" sz="28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5AFCE77-D455-0B06-1BB5-8B6818101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966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62D51D0-1F21-3D09-2576-655F3F97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7050E225-4956-AA1A-F5C4-45AF7C5BCD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Respuesta a la hipótesis y hallazgos clave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E1B5B5-75ED-CCE2-D156-96C5F858DF59}"/>
              </a:ext>
            </a:extLst>
          </p:cNvPr>
          <p:cNvSpPr txBox="1"/>
          <p:nvPr/>
        </p:nvSpPr>
        <p:spPr>
          <a:xfrm>
            <a:off x="7276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8E26EE-44DC-BFF0-4302-8DE85DB2A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07520"/>
            <a:ext cx="7688700" cy="38359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Respuesta a la hipótesis</a:t>
            </a: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hipótesis H1 proponía que los países con mayor calidad institucional presentan mayores niveles de PIB per cápita (PPP).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resultados del modelo de regresión múltiple respaldan esta afirmación: los coeficientes asociados a las variables institucionales muestran el signo esperado (positivo), son estadísticamente significativos en su mayoría y el Test F confirma el poder explicativo conjunto.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lo tanto, la hipótesis H1 no puede ser rechazada.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Principales hallazgos</a:t>
            </a: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instituciones importan: las cuatro dimensiones (efectividad gubernamental, calidad regulatoria, control de la corrupción y rule of law) muestran asociación robusta y positiva con el PIB per cápita.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calidad institucional explica una parte sustancial de la variación en el PIB entre países (R² ajustado ≈ 0.57).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inversión extranjera directa contribuye positivamente, aunque con menor impacto que las instituciones.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análisis del Top 10 (2000 vs 2020) refuerza la idea: los países que se mantienen en el top presentan instituciones sólidas y estables.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BDDE33-4C83-852A-FE45-A0C6991404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08526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D5F2E69-5EC7-9F5B-88DA-E3D2CF14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D7B40525-5290-D764-EEE8-C63A94775D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Limitaciones del estudio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30E880-E630-D484-C98B-CBA25821CFF2}"/>
              </a:ext>
            </a:extLst>
          </p:cNvPr>
          <p:cNvSpPr txBox="1"/>
          <p:nvPr/>
        </p:nvSpPr>
        <p:spPr>
          <a:xfrm>
            <a:off x="7276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404E09-4960-BC30-B30A-87778EAA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07520"/>
            <a:ext cx="7688700" cy="38359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Datos faltantes y calidad desigual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disponibilidad de información no es uniforme entre países.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Algunos casos presentan datos incompletos, lo que puede introducir sesgo de selección.</a:t>
            </a:r>
            <a:br>
              <a:rPr lang="es-MX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 transversal</a:t>
            </a:r>
            <a:endParaRPr lang="es-MX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análisis es de corte transversal, sin incorporar dinámicas temporales.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 captan efectos causales ni rezagos institucionales.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Posible endogeneidad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plausible que un mayor PIB mejore las instituciones, no solo al revés.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aspecto no se aborda explícitamente (se requerirían modelos dinámicos).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omitidas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Factores como educación, geografía, recursos naturales, desigualdad y desarrollo histórico también explican diferencias económicas.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Quedaron fuera del modelo por alcance y disponibilidad de datos.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BF344A0-D4CE-141E-A164-4BC4EA278D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57049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04972E1-D81C-F775-1211-4E33E1D2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E287E842-FB1E-5C87-AC21-A564869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Implicancias de los resultados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0B5E9D-B06A-A9E8-8C35-941173F6A2AD}"/>
              </a:ext>
            </a:extLst>
          </p:cNvPr>
          <p:cNvSpPr txBox="1"/>
          <p:nvPr/>
        </p:nvSpPr>
        <p:spPr>
          <a:xfrm>
            <a:off x="7276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4DACB1-1211-DAFC-3181-A37F8EBC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07520"/>
            <a:ext cx="7688700" cy="38359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Fortalecimiento institucional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Mejorar la calidad institucional no solo fortalece la gobernabilidad, también genera retornos económicos directos.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Países con mejor calidad regulatoria y menor corrupción tienden a atraer más inversión extranjera.</a:t>
            </a:r>
            <a:br>
              <a:rPr lang="es-MX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Impacto macroeconómico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reformas institucionales son condición necesaria (aunque no suficiente) para un desarrollo sostenido.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evidencia sugiere que instituciones sólidas se traducen en mayor productividad y bienestar social.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 para organismos internacionales y gobiernos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estudio respalda que mejorar la capacidad estatal puede generar beneficios tangibles en desarrollo económico.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políticas orientadas a fortalecer instituciones tienen efectos positivos en competitividad y estabilidad.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0114577-CF37-FA3A-509A-56C68A9564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19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9772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68C4570-0DB7-02BC-5A2D-C09620B5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144B7E91-DA4A-A7B8-1A95-E9E704F634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1652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Líneas futuras de investigación</a:t>
            </a:r>
            <a:endParaRPr lang="es-AR" sz="2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3EED17-6772-2E18-9296-2DB38D16D18E}"/>
              </a:ext>
            </a:extLst>
          </p:cNvPr>
          <p:cNvSpPr txBox="1"/>
          <p:nvPr/>
        </p:nvSpPr>
        <p:spPr>
          <a:xfrm>
            <a:off x="727650" y="13075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6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7BBFDD-BF6D-903A-4607-78CDCC613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07520"/>
            <a:ext cx="7688700" cy="38359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Modelos dinámicos</a:t>
            </a:r>
            <a:br>
              <a:rPr lang="es-MX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Incorporar datos de panel (FE/RE) para captar efectos causales y rezagos institucionales</a:t>
            </a:r>
          </a:p>
          <a:p>
            <a:pPr marL="615950" lvl="1" indent="0">
              <a:buNone/>
            </a:pP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adicionales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Sumar educación, desigualdad, gasto público, innovación, exportaciones y factores geográficos.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Análisis de clusters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Explorar si existen grupos de países con trayectorias institucionales similares.</a:t>
            </a:r>
          </a:p>
          <a:p>
            <a:pPr marL="615950" lvl="1" indent="0" algn="just">
              <a:buNone/>
            </a:pP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Comparaciones regionales</a:t>
            </a:r>
            <a:br>
              <a:rPr lang="es-MX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s-MX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 diferencias entre Latinoamérica, Asia y Europa.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72D0C65-0A02-FAF7-8542-18DEC749A8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20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76225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AA632CD-D6F9-4868-B23B-EAF9A7C7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E8C21DB3-7C1C-4839-7651-866883776E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9627" y="2122714"/>
            <a:ext cx="7976507" cy="898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 de la presentación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87FCC3-1CB6-7A50-92EA-94910729C4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21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6771230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1644</Words>
  <Application>Microsoft Office PowerPoint</Application>
  <PresentationFormat>Presentación en pantalla (16:9)</PresentationFormat>
  <Paragraphs>197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Wingdings</vt:lpstr>
      <vt:lpstr>Lato</vt:lpstr>
      <vt:lpstr>Calibri</vt:lpstr>
      <vt:lpstr>Courier New</vt:lpstr>
      <vt:lpstr>Arial</vt:lpstr>
      <vt:lpstr>Raleway</vt:lpstr>
      <vt:lpstr>Streamline</vt:lpstr>
      <vt:lpstr>Calidad institucional y desempeño económico</vt:lpstr>
      <vt:lpstr>Sección 1: Introducción y diseño de investigación  Objetivo, hipótesis y variables clave </vt:lpstr>
      <vt:lpstr>El problema central y la hipótesis de trabajo</vt:lpstr>
      <vt:lpstr>Diseño de investigación y variables clave</vt:lpstr>
      <vt:lpstr>Sección 2: Análisis exploratorio y limpieza de datos</vt:lpstr>
      <vt:lpstr>Diagnóstico inicial: datos faltantes</vt:lpstr>
      <vt:lpstr>Visualización de datos faltantes por variable</vt:lpstr>
      <vt:lpstr>Valores atípicos (outliers)</vt:lpstr>
      <vt:lpstr>Decisiones metodológicas sobre NAs y outliers</vt:lpstr>
      <vt:lpstr>Sección 3: Análisis inferencial y modelado  Resultados de la regresión múltiple y diagnóstico econométrico</vt:lpstr>
      <vt:lpstr>Resultados globales del modelo</vt:lpstr>
      <vt:lpstr>Diagnóstico de multicolinealidad y errores robustos</vt:lpstr>
      <vt:lpstr>Mayor efectividad del gobierno se asocia con mayor ingreso</vt:lpstr>
      <vt:lpstr>Resultados individuales de los coeficientes</vt:lpstr>
      <vt:lpstr>Top 10 PIB per cápita (2000 vs 2020)</vt:lpstr>
      <vt:lpstr>Sección 4: Conclusiones y respuesta a la hipótesis  Hallazgos, limitaciones e implicancias del estudio</vt:lpstr>
      <vt:lpstr>Respuesta a la hipótesis y hallazgos clave</vt:lpstr>
      <vt:lpstr>Limitaciones del estudio</vt:lpstr>
      <vt:lpstr>Implicancias de los resultados</vt:lpstr>
      <vt:lpstr>Líneas futuras de investigación</vt:lpstr>
      <vt:lpstr>Fin de la presentación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Matias Matera</dc:creator>
  <cp:lastModifiedBy>SCARSI EMILIANO</cp:lastModifiedBy>
  <cp:revision>22</cp:revision>
  <dcterms:modified xsi:type="dcterms:W3CDTF">2025-12-06T22:37:31Z</dcterms:modified>
</cp:coreProperties>
</file>